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350882-5207-4DF3-A926-57715526FAA3}" v="3" dt="2026-07-08T14:47:58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pita gupta" userId="deb68aefd0d3f322" providerId="LiveId" clId="{6BAAF0F2-2CE4-4ECC-B351-2F8F0DF87F65}"/>
    <pc:docChg chg="modSld">
      <pc:chgData name="arpita gupta" userId="deb68aefd0d3f322" providerId="LiveId" clId="{6BAAF0F2-2CE4-4ECC-B351-2F8F0DF87F65}" dt="2026-07-08T14:48:02.440" v="93" actId="113"/>
      <pc:docMkLst>
        <pc:docMk/>
      </pc:docMkLst>
      <pc:sldChg chg="modSp mod">
        <pc:chgData name="arpita gupta" userId="deb68aefd0d3f322" providerId="LiveId" clId="{6BAAF0F2-2CE4-4ECC-B351-2F8F0DF87F65}" dt="2026-07-08T14:22:14.781" v="3" actId="255"/>
        <pc:sldMkLst>
          <pc:docMk/>
          <pc:sldMk cId="0" sldId="256"/>
        </pc:sldMkLst>
        <pc:spChg chg="mod">
          <ac:chgData name="arpita gupta" userId="deb68aefd0d3f322" providerId="LiveId" clId="{6BAAF0F2-2CE4-4ECC-B351-2F8F0DF87F65}" dt="2026-07-08T14:21:33.804" v="0" actId="255"/>
          <ac:spMkLst>
            <pc:docMk/>
            <pc:sldMk cId="0" sldId="256"/>
            <ac:spMk id="9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1:39.711" v="1" actId="255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2:08.771" v="2" actId="25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2:14.781" v="3" actId="255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arpita gupta" userId="deb68aefd0d3f322" providerId="LiveId" clId="{6BAAF0F2-2CE4-4ECC-B351-2F8F0DF87F65}" dt="2026-07-08T14:25:14.062" v="27" actId="20577"/>
        <pc:sldMkLst>
          <pc:docMk/>
          <pc:sldMk cId="0" sldId="257"/>
        </pc:sldMkLst>
        <pc:spChg chg="mod">
          <ac:chgData name="arpita gupta" userId="deb68aefd0d3f322" providerId="LiveId" clId="{6BAAF0F2-2CE4-4ECC-B351-2F8F0DF87F65}" dt="2026-07-08T14:23:09.116" v="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3:27.863" v="6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3:24.178" v="5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3:45.793" v="8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3:57.339" v="9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4:08.256" v="10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4:12.874" v="11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4:18.602" v="12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5:14.062" v="27" actId="20577"/>
          <ac:spMkLst>
            <pc:docMk/>
            <pc:sldMk cId="0" sldId="257"/>
            <ac:spMk id="26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5:04.073" v="24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4:56.372" v="23" actId="20577"/>
          <ac:spMkLst>
            <pc:docMk/>
            <pc:sldMk cId="0" sldId="257"/>
            <ac:spMk id="28" creationId="{00000000-0000-0000-0000-000000000000}"/>
          </ac:spMkLst>
        </pc:spChg>
      </pc:sldChg>
      <pc:sldChg chg="modSp mod">
        <pc:chgData name="arpita gupta" userId="deb68aefd0d3f322" providerId="LiveId" clId="{6BAAF0F2-2CE4-4ECC-B351-2F8F0DF87F65}" dt="2026-07-08T14:27:18.521" v="44" actId="14100"/>
        <pc:sldMkLst>
          <pc:docMk/>
          <pc:sldMk cId="0" sldId="259"/>
        </pc:sldMkLst>
        <pc:spChg chg="mod">
          <ac:chgData name="arpita gupta" userId="deb68aefd0d3f322" providerId="LiveId" clId="{6BAAF0F2-2CE4-4ECC-B351-2F8F0DF87F65}" dt="2026-07-08T14:25:49.500" v="28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5:55.604" v="29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6:13.376" v="32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6:07.397" v="31" actId="1410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6:20.125" v="33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6:28.769" v="35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6:34.773" v="36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6:37.995" v="37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6:45.631" v="39" actId="14100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6:54.328" v="40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7:00.472" v="41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7:11.977" v="42" actId="107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27:18.521" v="44" actId="14100"/>
          <ac:spMkLst>
            <pc:docMk/>
            <pc:sldMk cId="0" sldId="259"/>
            <ac:spMk id="34" creationId="{00000000-0000-0000-0000-000000000000}"/>
          </ac:spMkLst>
        </pc:spChg>
      </pc:sldChg>
      <pc:sldChg chg="modSp mod">
        <pc:chgData name="arpita gupta" userId="deb68aefd0d3f322" providerId="LiveId" clId="{6BAAF0F2-2CE4-4ECC-B351-2F8F0DF87F65}" dt="2026-07-08T14:36:41.290" v="56" actId="1076"/>
        <pc:sldMkLst>
          <pc:docMk/>
          <pc:sldMk cId="0" sldId="272"/>
        </pc:sldMkLst>
        <pc:spChg chg="mod">
          <ac:chgData name="arpita gupta" userId="deb68aefd0d3f322" providerId="LiveId" clId="{6BAAF0F2-2CE4-4ECC-B351-2F8F0DF87F65}" dt="2026-07-08T14:36:03.087" v="50" actId="14100"/>
          <ac:spMkLst>
            <pc:docMk/>
            <pc:sldMk cId="0" sldId="272"/>
            <ac:spMk id="8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35:40.767" v="47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35:53.564" v="48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36:12.470" v="52" actId="14100"/>
          <ac:spMkLst>
            <pc:docMk/>
            <pc:sldMk cId="0" sldId="272"/>
            <ac:spMk id="18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36:31.750" v="55" actId="107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36:41.290" v="56" actId="1076"/>
          <ac:spMkLst>
            <pc:docMk/>
            <pc:sldMk cId="0" sldId="272"/>
            <ac:spMk id="23" creationId="{00000000-0000-0000-0000-000000000000}"/>
          </ac:spMkLst>
        </pc:spChg>
      </pc:sldChg>
      <pc:sldChg chg="modSp mod">
        <pc:chgData name="arpita gupta" userId="deb68aefd0d3f322" providerId="LiveId" clId="{6BAAF0F2-2CE4-4ECC-B351-2F8F0DF87F65}" dt="2026-07-08T14:42:07.657" v="67" actId="20577"/>
        <pc:sldMkLst>
          <pc:docMk/>
          <pc:sldMk cId="0" sldId="276"/>
        </pc:sldMkLst>
        <pc:spChg chg="mod">
          <ac:chgData name="arpita gupta" userId="deb68aefd0d3f322" providerId="LiveId" clId="{6BAAF0F2-2CE4-4ECC-B351-2F8F0DF87F65}" dt="2026-07-08T14:41:51.714" v="58" actId="20577"/>
          <ac:spMkLst>
            <pc:docMk/>
            <pc:sldMk cId="0" sldId="276"/>
            <ac:spMk id="21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42:07.657" v="67" actId="20577"/>
          <ac:spMkLst>
            <pc:docMk/>
            <pc:sldMk cId="0" sldId="276"/>
            <ac:spMk id="31" creationId="{00000000-0000-0000-0000-000000000000}"/>
          </ac:spMkLst>
        </pc:spChg>
      </pc:sldChg>
      <pc:sldChg chg="modSp mod">
        <pc:chgData name="arpita gupta" userId="deb68aefd0d3f322" providerId="LiveId" clId="{6BAAF0F2-2CE4-4ECC-B351-2F8F0DF87F65}" dt="2026-07-08T14:48:02.440" v="93" actId="113"/>
        <pc:sldMkLst>
          <pc:docMk/>
          <pc:sldMk cId="0" sldId="277"/>
        </pc:sldMkLst>
        <pc:spChg chg="mod">
          <ac:chgData name="arpita gupta" userId="deb68aefd0d3f322" providerId="LiveId" clId="{6BAAF0F2-2CE4-4ECC-B351-2F8F0DF87F65}" dt="2026-07-08T14:47:06.306" v="73"/>
          <ac:spMkLst>
            <pc:docMk/>
            <pc:sldMk cId="0" sldId="277"/>
            <ac:spMk id="7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47:44.647" v="85" actId="113"/>
          <ac:spMkLst>
            <pc:docMk/>
            <pc:sldMk cId="0" sldId="277"/>
            <ac:spMk id="12" creationId="{00000000-0000-0000-0000-000000000000}"/>
          </ac:spMkLst>
        </pc:spChg>
        <pc:spChg chg="mod">
          <ac:chgData name="arpita gupta" userId="deb68aefd0d3f322" providerId="LiveId" clId="{6BAAF0F2-2CE4-4ECC-B351-2F8F0DF87F65}" dt="2026-07-08T14:48:02.440" v="93" actId="113"/>
          <ac:spMkLst>
            <pc:docMk/>
            <pc:sldMk cId="0" sldId="277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462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Eventra is a live, solo-built event-planning platform. This deck walks from problem and research through the shipped product, PM frameworks, and go-to-market.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38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4864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54864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9445752" y="713232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12351F"/>
          </a:solidFill>
          <a:ln/>
        </p:spPr>
      </p:sp>
      <p:sp>
        <p:nvSpPr>
          <p:cNvPr id="5" name="Text 2"/>
          <p:cNvSpPr/>
          <p:nvPr/>
        </p:nvSpPr>
        <p:spPr>
          <a:xfrm>
            <a:off x="9445752" y="71323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 IN PRODUCTION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21488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platform for
</a:t>
            </a:r>
            <a:r>
              <a:rPr lang="en-US" sz="5200" b="1" dirty="0">
                <a:solidFill>
                  <a:srgbClr val="8E7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event planners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66928" y="416052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user research to a shipped, installable web app — Eventra runs weddings and events end to end: budgets, vendors, tasks, analytics, and a client-ready portfolio, all in one place.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" y="5257800"/>
            <a:ext cx="1312164" cy="310896"/>
          </a:xfrm>
          <a:prstGeom prst="roundRect">
            <a:avLst>
              <a:gd name="adj" fmla="val 50000"/>
            </a:avLst>
          </a:prstGeom>
          <a:solidFill>
            <a:srgbClr val="2A2358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5257800"/>
            <a:ext cx="13121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founder + PM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43684" y="525780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2A2358"/>
          </a:solidFill>
          <a:ln/>
        </p:spPr>
      </p:sp>
      <p:sp>
        <p:nvSpPr>
          <p:cNvPr id="11" name="Text 8"/>
          <p:cNvSpPr/>
          <p:nvPr/>
        </p:nvSpPr>
        <p:spPr>
          <a:xfrm>
            <a:off x="2043684" y="5257800"/>
            <a:ext cx="11750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Research-driven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525780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A2358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5257800"/>
            <a:ext cx="1106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&amp; live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54296" y="525780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2A2358"/>
          </a:solidFill>
          <a:ln/>
        </p:spPr>
      </p:sp>
      <p:sp>
        <p:nvSpPr>
          <p:cNvPr id="15" name="Text 12"/>
          <p:cNvSpPr/>
          <p:nvPr/>
        </p:nvSpPr>
        <p:spPr>
          <a:xfrm>
            <a:off x="4654296" y="5257800"/>
            <a:ext cx="11750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</a:t>
            </a:r>
            <a:r>
              <a:rPr lang="en-US" sz="1000" b="1" dirty="0">
                <a:solidFill>
                  <a:srgbClr val="E9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Arpita Gupta</a:t>
            </a:r>
            <a:r>
              <a:rPr lang="en-US" sz="1250" dirty="0">
                <a:solidFill>
                  <a:srgbClr val="9F9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Founder &amp; Product Manager   ·   MBA, Data Science &amp; AI, IIT Mandi   ·   Product Case Study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at a glance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380744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product — not a mockup. Eventra is an operating system for event professionals, validated with real planners and shipped to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48640" cy="548640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" y="2501798"/>
            <a:ext cx="208483" cy="2084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327148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80160" y="258775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platform to manage events, budgets, vendors, tasks and a client-facing portfolio — in one place.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3264408"/>
            <a:ext cx="548640" cy="548640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" y="3434486"/>
            <a:ext cx="208483" cy="2084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75588" y="329184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75588" y="3529584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planners — weddings first, plus corporate, academic and social event coordinators.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4197096"/>
            <a:ext cx="548640" cy="548640"/>
          </a:xfrm>
          <a:prstGeom prst="ellipse">
            <a:avLst/>
          </a:prstGeom>
          <a:solidFill>
            <a:srgbClr val="E7F8F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" y="4367174"/>
            <a:ext cx="208483" cy="2084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75588" y="420624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07465" y="437083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production, PWA-installable, desktop-first. Multi-event, multi-user, real-time.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66928" y="5129784"/>
            <a:ext cx="548640" cy="548640"/>
          </a:xfrm>
          <a:prstGeom prst="ellipse">
            <a:avLst/>
          </a:prstGeom>
          <a:solidFill>
            <a:srgbClr val="FEF3E2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" y="5299862"/>
            <a:ext cx="208483" cy="20848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75588" y="5145024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80160" y="5296408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— research, product strategy, UX, full-stack build, and go-to-market.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818120" y="1554480"/>
            <a:ext cx="380390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074152" y="1700784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9601200" y="1773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modules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601200" y="21214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→ Showcase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818120" y="2798064"/>
            <a:ext cx="380390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074152" y="2944368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₹XX</a:t>
            </a:r>
            <a:endParaRPr lang="en-US" sz="4000" dirty="0"/>
          </a:p>
        </p:txBody>
      </p:sp>
      <p:sp>
        <p:nvSpPr>
          <p:cNvPr id="27" name="Text 21"/>
          <p:cNvSpPr/>
          <p:nvPr/>
        </p:nvSpPr>
        <p:spPr>
          <a:xfrm>
            <a:off x="9601200" y="3056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managed live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601200" y="33649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Wedding, real budget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818120" y="4041648"/>
            <a:ext cx="380390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8074152" y="4187952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31" name="Text 25"/>
          <p:cNvSpPr/>
          <p:nvPr/>
        </p:nvSpPr>
        <p:spPr>
          <a:xfrm>
            <a:off x="9601200" y="42611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differentiators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9601200" y="460857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Receipts · Client link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818120" y="5285232"/>
            <a:ext cx="380390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8074152" y="5431536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35" name="Text 29"/>
          <p:cNvSpPr/>
          <p:nvPr/>
        </p:nvSpPr>
        <p:spPr>
          <a:xfrm>
            <a:off x="9601200" y="5504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start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9601200" y="58521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Freemium, zero friction</a:t>
            </a:r>
            <a:endParaRPr lang="en-US" sz="1000" dirty="0"/>
          </a:p>
        </p:txBody>
      </p:sp>
      <p:pic>
        <p:nvPicPr>
          <p:cNvPr id="37" name="Image 4" descr="assets/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FOUNDER'S NOTE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researched it. I designed it.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it. I shipped it.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C9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began as a question, not a codebase: why do the people who run our most important events still work from spreadsheets, WhatsApp threads and paper receipts? I interviewed planners, mapped the workflow, prioritised ruthlessly, designed the experience, and built and deployed the product myself — then repositioned it from an academic tool into a platform for professional planners.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83880" y="3383280"/>
            <a:ext cx="475488" cy="475488"/>
          </a:xfrm>
          <a:prstGeom prst="ellipse">
            <a:avLst/>
          </a:prstGeom>
          <a:solidFill>
            <a:srgbClr val="3A2F7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281" y="3530681"/>
            <a:ext cx="180685" cy="1806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33467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research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183880" y="4041648"/>
            <a:ext cx="475488" cy="475488"/>
          </a:xfrm>
          <a:prstGeom prst="ellipse">
            <a:avLst/>
          </a:prstGeom>
          <a:solidFill>
            <a:srgbClr val="3A2F7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81" y="4189049"/>
            <a:ext cx="180685" cy="1806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0" y="40050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UX design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183880" y="4700016"/>
            <a:ext cx="475488" cy="475488"/>
          </a:xfrm>
          <a:prstGeom prst="ellipse">
            <a:avLst/>
          </a:prstGeom>
          <a:solidFill>
            <a:srgbClr val="3A2F7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281" y="4847417"/>
            <a:ext cx="180685" cy="18068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0" y="4663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build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183880" y="5358384"/>
            <a:ext cx="475488" cy="475488"/>
          </a:xfrm>
          <a:prstGeom prst="ellipse">
            <a:avLst/>
          </a:prstGeom>
          <a:solidFill>
            <a:srgbClr val="3A2F72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281" y="5505785"/>
            <a:ext cx="180685" cy="18068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0" y="53218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18388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7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person. Full product lifecycle.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Six-figure events, run on spreadsheets and hope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wedding spans multiple functions, dozens of vendors, and budgets from ₹10 lakh to ₹1 crore+ — coordinated across WhatsApp groups, shared Excel files and paper receipts. There is no single source of truth, and no client-facing polish.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93008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487168"/>
            <a:ext cx="475488" cy="475488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85" y="2634569"/>
            <a:ext cx="180685" cy="1806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588" y="24414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source of truth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40536" y="279806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disconnected tools per event — nothing reconciles.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2286000"/>
            <a:ext cx="3493008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71416" y="2487168"/>
            <a:ext cx="475488" cy="475488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817" y="2634569"/>
            <a:ext cx="180685" cy="1806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58156" y="244238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budget visibility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38344" y="2764536"/>
            <a:ext cx="2542032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Overruns surface after the event, during manual reconciliation.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36992" y="2286000"/>
            <a:ext cx="3493008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56448" y="2487168"/>
            <a:ext cx="475488" cy="475488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3849" y="2634569"/>
            <a:ext cx="180685" cy="18068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9000" y="248099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 fragility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649000" y="2807208"/>
            <a:ext cx="2680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conflicts, broken formulas, zero audit trail.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66928" y="3476752"/>
            <a:ext cx="3493008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86384" y="3657600"/>
            <a:ext cx="475488" cy="475488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785" y="3805001"/>
            <a:ext cx="180685" cy="1806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75588" y="3611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payment chaos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275588" y="40050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Quotes, advances and balances tracked in someone's head.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51960" y="3456432"/>
            <a:ext cx="3493008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71416" y="3657600"/>
            <a:ext cx="475488" cy="475488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8817" y="3805001"/>
            <a:ext cx="180685" cy="18068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58156" y="35976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approval chains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038344" y="3945128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Sign-offs happen over chat — nothing is structured or logged.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936992" y="3456432"/>
            <a:ext cx="3493008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56448" y="3657600"/>
            <a:ext cx="475488" cy="475488"/>
          </a:xfrm>
          <a:prstGeom prst="ellipse">
            <a:avLst/>
          </a:prstGeom>
          <a:solidFill>
            <a:srgbClr val="FDECEC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3849" y="3805001"/>
            <a:ext cx="180685" cy="18068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49000" y="360273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client-facing polish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649000" y="4005072"/>
            <a:ext cx="2753441" cy="342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 have no simple, professional way to show their work.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66928" y="484632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B1533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66928" y="484632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B1533"/>
          </a:solidFill>
          <a:ln/>
        </p:spPr>
      </p:sp>
      <p:sp>
        <p:nvSpPr>
          <p:cNvPr id="37" name="Text 29"/>
          <p:cNvSpPr/>
          <p:nvPr/>
        </p:nvSpPr>
        <p:spPr>
          <a:xfrm>
            <a:off x="886968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7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PAIN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886968" y="5257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2400" dirty="0"/>
          </a:p>
        </p:txBody>
      </p:sp>
      <p:sp>
        <p:nvSpPr>
          <p:cNvPr id="39" name="Text 31"/>
          <p:cNvSpPr/>
          <p:nvPr/>
        </p:nvSpPr>
        <p:spPr>
          <a:xfrm>
            <a:off x="886968" y="5687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tracking named the top pain, unanimously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498848" y="5257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2400" dirty="0"/>
          </a:p>
        </p:txBody>
      </p:sp>
      <p:sp>
        <p:nvSpPr>
          <p:cNvPr id="41" name="Text 33"/>
          <p:cNvSpPr/>
          <p:nvPr/>
        </p:nvSpPr>
        <p:spPr>
          <a:xfrm>
            <a:off x="4498848" y="5687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financial tool for nearly every planner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8110728" y="5257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Post-event</a:t>
            </a:r>
            <a:endParaRPr lang="en-US" sz="2400" dirty="0"/>
          </a:p>
        </p:txBody>
      </p:sp>
      <p:sp>
        <p:nvSpPr>
          <p:cNvPr id="43" name="Text 35"/>
          <p:cNvSpPr/>
          <p:nvPr/>
        </p:nvSpPr>
        <p:spPr>
          <a:xfrm>
            <a:off x="8110728" y="5687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most overruns are discovered today</a:t>
            </a:r>
            <a:endParaRPr lang="en-US" sz="1050" dirty="0"/>
          </a:p>
        </p:txBody>
      </p:sp>
      <p:pic>
        <p:nvPicPr>
          <p:cNvPr id="44" name="Image 6" descr="assets/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46" name="Text 37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before a single line of code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started with the workflow, not the product. Structured conversations across the people who touch an event revealed where the money, time and trust leak 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6446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24328"/>
            <a:ext cx="548640" cy="548640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" y="2794406"/>
            <a:ext cx="208483" cy="2084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5608" y="2514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 &amp; coordinators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35608" y="289864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daily drivers — budgets, vendors, teams.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3538728"/>
            <a:ext cx="6446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3831336"/>
            <a:ext cx="548640" cy="548640"/>
          </a:xfrm>
          <a:prstGeom prst="ellipse">
            <a:avLst/>
          </a:prstGeom>
          <a:solidFill>
            <a:srgbClr val="E7F8F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" y="4001414"/>
            <a:ext cx="208483" cy="2084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5608" y="37216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approvers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35608" y="410565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accountability and sign-off on spend.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928" y="4745736"/>
            <a:ext cx="64465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5038344"/>
            <a:ext cx="548640" cy="548640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" y="5208422"/>
            <a:ext cx="208483" cy="20848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35608" y="49286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&amp; clients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35608" y="53126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quality, payments and trust are judged.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360920" y="1463040"/>
            <a:ext cx="4251960" cy="4572000"/>
          </a:xfrm>
          <a:prstGeom prst="roundRect">
            <a:avLst>
              <a:gd name="adj" fmla="val 1935"/>
            </a:avLst>
          </a:prstGeom>
          <a:solidFill>
            <a:srgbClr val="14141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60920" y="1463040"/>
            <a:ext cx="4251960" cy="4572000"/>
          </a:xfrm>
          <a:prstGeom prst="roundRect">
            <a:avLst>
              <a:gd name="adj" fmla="val 1935"/>
            </a:avLst>
          </a:prstGeom>
          <a:solidFill>
            <a:srgbClr val="14141F"/>
          </a:solidFill>
          <a:ln/>
        </p:spPr>
      </p:sp>
      <p:sp>
        <p:nvSpPr>
          <p:cNvPr id="22" name="Text 17"/>
          <p:cNvSpPr/>
          <p:nvPr/>
        </p:nvSpPr>
        <p:spPr>
          <a:xfrm>
            <a:off x="763524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HEARD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635240" y="21488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control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635240" y="2459736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unmet need, named by every planner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635240" y="30815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truth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7635240" y="3392424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only know the number after it's too late"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7635240" y="40142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7635240" y="4325112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and vendors scattered across chats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7635240" y="494690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Credibility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7635240" y="52578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polished way to win the next client</a:t>
            </a:r>
            <a:endParaRPr lang="en-US" sz="1100" dirty="0"/>
          </a:p>
        </p:txBody>
      </p:sp>
      <p:pic>
        <p:nvPicPr>
          <p:cNvPr id="31" name="Image 3" descr="assets/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PERSONAS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stakeholders, four jobs to be done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49240" cy="2048256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658368" cy="65836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9344" y="186537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— Wedding Planner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09344" y="22128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EEAFE"/>
          </a:solidFill>
          <a:ln/>
        </p:spPr>
      </p:sp>
      <p:sp>
        <p:nvSpPr>
          <p:cNvPr id="9" name="Text 7"/>
          <p:cNvSpPr/>
          <p:nvPr/>
        </p:nvSpPr>
        <p:spPr>
          <a:xfrm>
            <a:off x="1609344" y="221284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user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2670048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flawless events and win the next client.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2990088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lives in her head and ten chat threads.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every event, budget and vendor from one screen.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572768"/>
            <a:ext cx="5349240" cy="2048256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1828800"/>
            <a:ext cx="658368" cy="658368"/>
          </a:xfrm>
          <a:prstGeom prst="ellipse">
            <a:avLst/>
          </a:prstGeom>
          <a:solidFill>
            <a:srgbClr val="FF4F8B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1828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68896" y="186537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Arjun &amp; Meera — Clients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68896" y="221284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E9F1"/>
          </a:solidFill>
          <a:ln/>
        </p:spPr>
      </p:sp>
      <p:sp>
        <p:nvSpPr>
          <p:cNvPr id="18" name="Text 16"/>
          <p:cNvSpPr/>
          <p:nvPr/>
        </p:nvSpPr>
        <p:spPr>
          <a:xfrm>
            <a:off x="7168896" y="221284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2670048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progress and spend without chasing the planner.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2990088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Anxious, in the dark, asking for updates constantly.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3310128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clean, shareable view of their event's status.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785616"/>
            <a:ext cx="5349240" cy="2048256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041648"/>
            <a:ext cx="658368" cy="6583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416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9344" y="407822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 — Vendor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609344" y="442569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8F0"/>
          </a:solidFill>
          <a:ln/>
        </p:spPr>
      </p:sp>
      <p:sp>
        <p:nvSpPr>
          <p:cNvPr id="27" name="Text 25"/>
          <p:cNvSpPr/>
          <p:nvPr/>
        </p:nvSpPr>
        <p:spPr>
          <a:xfrm>
            <a:off x="1609344" y="442569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partner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" y="4882896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booked, deliver, and get paid on time.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" y="5202936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and balances tracked informally, disputes arise.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1248" y="5522976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scope, tracked payments, on-time settlement.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3785616"/>
            <a:ext cx="5349240" cy="2048256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82512" y="4041648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40416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68896" y="407822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Rashi — Coordinator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168896" y="442569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</p:sp>
      <p:sp>
        <p:nvSpPr>
          <p:cNvPr id="36" name="Text 34"/>
          <p:cNvSpPr/>
          <p:nvPr/>
        </p:nvSpPr>
        <p:spPr>
          <a:xfrm>
            <a:off x="7168896" y="442569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4882896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exactly what to do, when, and where.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5202936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hand-offs get lost; ownership is unclear.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0" y="5522976"/>
            <a:ext cx="4892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  </a:t>
            </a: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assigned tasks, deadlines, and mark them done.</a:t>
            </a:r>
            <a:endParaRPr lang="en-US" sz="1050" dirty="0"/>
          </a:p>
        </p:txBody>
      </p:sp>
      <p:pic>
        <p:nvPicPr>
          <p:cNvPr id="40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JOBS TO BE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jobs Eventra is hired to do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needs as jobs — not features — kept the build anchored to outcomes planners actually care about.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423160"/>
            <a:ext cx="548640" cy="548640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" y="2593238"/>
            <a:ext cx="208483" cy="2084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14884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I'm mid-event, </a:t>
            </a: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see exactly where the budget stands</a:t>
            </a:r>
            <a:r>
              <a:rPr lang="en-US" sz="1450" i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I can stop overruns before they happen.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317296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9536" y="3447288"/>
            <a:ext cx="548640" cy="548640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" y="3617366"/>
            <a:ext cx="208483" cy="2084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3172968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work is spread across my team, </a:t>
            </a: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assign and track every task in one place</a:t>
            </a:r>
            <a:r>
              <a:rPr lang="en-US" sz="1450" i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nothing slips through the cracks.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66928" y="419709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9536" y="4471416"/>
            <a:ext cx="548640" cy="548640"/>
          </a:xfrm>
          <a:prstGeom prst="ellipse">
            <a:avLst/>
          </a:prstGeom>
          <a:solidFill>
            <a:srgbClr val="E7F8F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" y="4641494"/>
            <a:ext cx="208483" cy="20848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72768" y="4197096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vendors send quotes and bills, </a:t>
            </a: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quotes, advances and balances tracked automatically</a:t>
            </a:r>
            <a:r>
              <a:rPr lang="en-US" sz="1450" i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I always know who's owed what.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566928" y="5221224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59536" y="5495544"/>
            <a:ext cx="548640" cy="548640"/>
          </a:xfrm>
          <a:prstGeom prst="ellipse">
            <a:avLst/>
          </a:prstGeom>
          <a:solidFill>
            <a:srgbClr val="FEF3E2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14" y="5665622"/>
            <a:ext cx="208483" cy="20848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72768" y="5221224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meet a new client, </a:t>
            </a: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share a polished portfolio of past work</a:t>
            </a:r>
            <a:r>
              <a:rPr lang="en-US" sz="14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 I can win the booking on the spot.</a:t>
            </a:r>
            <a:endParaRPr lang="en-US" sz="1450" dirty="0"/>
          </a:p>
        </p:txBody>
      </p:sp>
      <p:pic>
        <p:nvPicPr>
          <p:cNvPr id="21" name="Image 4" descr="assets/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real pains to product value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6F5FB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5448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6F5FB"/>
          </a:solidFill>
          <a:ln w="12700">
            <a:solidFill>
              <a:srgbClr val="E6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55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24780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flawless multi-function events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27523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spend inside budget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30266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and retain clients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3410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37398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blind spots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40142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tasks &amp; vendors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42885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professional showcase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4672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5001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&amp; control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5276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55504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credible brand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3832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6839712" y="1554480"/>
            <a:ext cx="4773168" cy="4480560"/>
          </a:xfrm>
          <a:prstGeom prst="roundRect">
            <a:avLst>
              <a:gd name="adj" fmla="val 1837"/>
            </a:avLst>
          </a:prstGeom>
          <a:solidFill>
            <a:srgbClr val="14141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39712" y="1554480"/>
            <a:ext cx="4773168" cy="4480560"/>
          </a:xfrm>
          <a:prstGeom prst="roundRect">
            <a:avLst>
              <a:gd name="adj" fmla="val 1837"/>
            </a:avLst>
          </a:prstGeom>
          <a:solidFill>
            <a:srgbClr val="14141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755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E7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DELIVERS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96912" y="24780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budget &amp; analytics 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96912" y="27523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tasks, calendar &amp; vendors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96912" y="30266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showcase + shareable link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410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relievers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96912" y="37398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spend vs budget, always current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96912" y="40142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workspace, full audit trail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96912" y="42885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link replaces a pitch deck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4672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creators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96912" y="5001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reports in one click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96912" y="52760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 + structured approvals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96912" y="5550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— installable, always on hand</a:t>
            </a:r>
            <a:endParaRPr lang="en-US" sz="1100" dirty="0"/>
          </a:p>
        </p:txBody>
      </p:sp>
      <p:pic>
        <p:nvPicPr>
          <p:cNvPr id="35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600" dirty="0">
                <a:solidFill>
                  <a:srgbClr val="9F9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event planners </a:t>
            </a:r>
            <a:r>
              <a:rPr lang="en-US" sz="2600" dirty="0">
                <a:solidFill>
                  <a:srgbClr val="9F9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high-value, multi-function events, </a:t>
            </a:r>
            <a:r>
              <a:rPr lang="en-US" sz="2600" dirty="0">
                <a:solidFill>
                  <a:srgbClr val="9F9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is </a:t>
            </a:r>
            <a:r>
              <a:rPr lang="en-US" sz="2600" b="1" dirty="0">
                <a:solidFill>
                  <a:srgbClr val="8E7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unifies budgets, vendors, tasks and a client-ready portfolio — </a:t>
            </a:r>
            <a:r>
              <a:rPr lang="en-US" sz="2600" dirty="0">
                <a:solidFill>
                  <a:srgbClr val="9F9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</a:t>
            </a: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 and generic project tools, because it is purpose-built for how events actually run.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7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PRINCIPLES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4343400"/>
            <a:ext cx="493776" cy="493776"/>
          </a:xfrm>
          <a:prstGeom prst="ellipse">
            <a:avLst/>
          </a:prstGeom>
          <a:solidFill>
            <a:srgbClr val="362E6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99" y="4496471"/>
            <a:ext cx="187635" cy="187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4910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is the spine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5394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ties back to money in vs money out.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28416" y="4343400"/>
            <a:ext cx="493776" cy="493776"/>
          </a:xfrm>
          <a:prstGeom prst="ellipse">
            <a:avLst/>
          </a:prstGeom>
          <a:solidFill>
            <a:srgbClr val="362E6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487" y="4496471"/>
            <a:ext cx="187635" cy="187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8416" y="4910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 nothing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328416" y="5394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number you can't trust live is worse than no number.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9904" y="4343400"/>
            <a:ext cx="493776" cy="493776"/>
          </a:xfrm>
          <a:prstGeom prst="ellipse">
            <a:avLst/>
          </a:prstGeom>
          <a:solidFill>
            <a:srgbClr val="362E6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2975" y="4496471"/>
            <a:ext cx="187635" cy="187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89904" y="4910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the client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089904" y="5394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planner's reputation is a first-class feature.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851392" y="4343400"/>
            <a:ext cx="493776" cy="493776"/>
          </a:xfrm>
          <a:prstGeom prst="ellipse">
            <a:avLst/>
          </a:prstGeom>
          <a:solidFill>
            <a:srgbClr val="362E68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4463" y="4496471"/>
            <a:ext cx="187635" cy="1876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51392" y="491032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90%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851392" y="53949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great web app beats a delayed native one.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workflow, end to end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" y="2029968"/>
            <a:ext cx="0" cy="292608"/>
          </a:xfrm>
          <a:prstGeom prst="line">
            <a:avLst/>
          </a:prstGeom>
          <a:noFill/>
          <a:ln w="19050">
            <a:solidFill>
              <a:srgbClr val="8E7DF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25296" y="15544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by role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event type — the workspace tailors itself.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322576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" y="2779776"/>
            <a:ext cx="0" cy="292608"/>
          </a:xfrm>
          <a:prstGeom prst="line">
            <a:avLst/>
          </a:prstGeom>
          <a:noFill/>
          <a:ln w="19050">
            <a:solidFill>
              <a:srgbClr val="8E7DF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225296" y="23042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event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25296" y="25786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Client, dates, venue, functions, and budget by category.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072384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5528" y="3529584"/>
            <a:ext cx="0" cy="292608"/>
          </a:xfrm>
          <a:prstGeom prst="line">
            <a:avLst/>
          </a:prstGeom>
          <a:noFill/>
          <a:ln w="19050">
            <a:solidFill>
              <a:srgbClr val="8E7DF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225296" y="30540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team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25296" y="33284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members; role-based access to the right events.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5528" y="4279392"/>
            <a:ext cx="0" cy="292608"/>
          </a:xfrm>
          <a:prstGeom prst="line">
            <a:avLst/>
          </a:prstGeom>
          <a:noFill/>
          <a:ln w="19050">
            <a:solidFill>
              <a:srgbClr val="8E7DF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225296" y="380390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operations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25296" y="40782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calendar, vendors, expenses &amp; receipts — live.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57200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5528" y="5029200"/>
            <a:ext cx="0" cy="292608"/>
          </a:xfrm>
          <a:prstGeom prst="line">
            <a:avLst/>
          </a:prstGeom>
          <a:noFill/>
          <a:ln w="19050">
            <a:solidFill>
              <a:srgbClr val="8E7DF5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225296" y="45537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&amp; approve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25296" y="48280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analytics; structured expense approvals.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5321808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25296" y="53035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&amp; share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25296" y="5577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PDF and a shareable client showcase link.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06440" y="1600200"/>
            <a:ext cx="580644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77800" dist="635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06440" y="1600200"/>
            <a:ext cx="5806440" cy="274320"/>
          </a:xfrm>
          <a:prstGeom prst="rect">
            <a:avLst/>
          </a:prstGeom>
          <a:solidFill>
            <a:srgbClr val="20202C"/>
          </a:solidFill>
          <a:ln/>
        </p:spPr>
      </p:sp>
      <p:sp>
        <p:nvSpPr>
          <p:cNvPr id="35" name="Shape 33"/>
          <p:cNvSpPr/>
          <p:nvPr/>
        </p:nvSpPr>
        <p:spPr>
          <a:xfrm>
            <a:off x="5934456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6" name="Shape 34"/>
          <p:cNvSpPr/>
          <p:nvPr/>
        </p:nvSpPr>
        <p:spPr>
          <a:xfrm>
            <a:off x="6117336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0216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38" name="Image 0" descr="assets/mock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1929384"/>
            <a:ext cx="5696712" cy="360791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806440" y="530352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dashboard — one event's money, tasks and status at a glance.</a:t>
            </a:r>
            <a:endParaRPr lang="en-US" sz="1000" dirty="0"/>
          </a:p>
        </p:txBody>
      </p:sp>
      <p:pic>
        <p:nvPicPr>
          <p:cNvPr id="40" name="Image 1" descr="assets/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FEATURE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Multi-function events, budgeted to the rupee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weddings aren't one event — they're five. Eventra models each function with its own budget, then rolls everything into a single financial picture.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512064" cy="512064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68" y="2536180"/>
            <a:ext cx="194584" cy="1945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23408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as first-class objects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25296" y="26517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Mehendi, Haldi, Sangeet, Baraat, Reception — each with its own budget and timeline.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3291840"/>
            <a:ext cx="512064" cy="512064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68" y="3450580"/>
            <a:ext cx="194584" cy="1945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296" y="32552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by category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25296" y="3566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across venue, catering, decor, photography and more — 10 categories.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" y="4206240"/>
            <a:ext cx="512064" cy="512064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668" y="4364980"/>
            <a:ext cx="194584" cy="1945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5296" y="41696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utilisation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25296" y="44805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running % of budget used, updated the moment an expense is logged.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6928" y="5120640"/>
            <a:ext cx="512064" cy="512064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668" y="5279380"/>
            <a:ext cx="194584" cy="1945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25296" y="50840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Board-ready overview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225296" y="5394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the full event summary as a client- or finance-ready PDF.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629400" y="1554480"/>
            <a:ext cx="498348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922008" y="17830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Kapoor Wedding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22008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₹14,35,000 spent of ₹50,00,000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10424160" y="181051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7F8F0"/>
          </a:solidFill>
          <a:ln/>
        </p:spPr>
      </p:sp>
      <p:sp>
        <p:nvSpPr>
          <p:cNvPr id="25" name="Text 19"/>
          <p:cNvSpPr/>
          <p:nvPr/>
        </p:nvSpPr>
        <p:spPr>
          <a:xfrm>
            <a:off x="10424160" y="18105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 used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922008" y="2606040"/>
            <a:ext cx="4398264" cy="530352"/>
          </a:xfrm>
          <a:prstGeom prst="roundRect">
            <a:avLst>
              <a:gd name="adj" fmla="val 10345"/>
            </a:avLst>
          </a:prstGeom>
          <a:solidFill>
            <a:srgbClr val="F7F7FB"/>
          </a:solidFill>
          <a:ln/>
        </p:spPr>
      </p:sp>
      <p:sp>
        <p:nvSpPr>
          <p:cNvPr id="27" name="Shape 21"/>
          <p:cNvSpPr/>
          <p:nvPr/>
        </p:nvSpPr>
        <p:spPr>
          <a:xfrm>
            <a:off x="7086600" y="2743200"/>
            <a:ext cx="256032" cy="256032"/>
          </a:xfrm>
          <a:prstGeom prst="ellipse">
            <a:avLst/>
          </a:prstGeom>
          <a:solidFill>
            <a:srgbClr val="FF4F8B"/>
          </a:solidFill>
          <a:ln/>
        </p:spPr>
      </p:sp>
      <p:sp>
        <p:nvSpPr>
          <p:cNvPr id="28" name="Shape 22"/>
          <p:cNvSpPr/>
          <p:nvPr/>
        </p:nvSpPr>
        <p:spPr>
          <a:xfrm>
            <a:off x="7068312" y="2734056"/>
            <a:ext cx="274320" cy="274320"/>
          </a:xfrm>
          <a:prstGeom prst="ellipse">
            <a:avLst/>
          </a:prstGeom>
          <a:solidFill>
            <a:srgbClr val="FF4F8B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3351" y="2819095"/>
            <a:ext cx="104242" cy="10424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70648" y="260604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Mehendi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9784080" y="260604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₹8,00,000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6922008" y="3264408"/>
            <a:ext cx="4398264" cy="530352"/>
          </a:xfrm>
          <a:prstGeom prst="roundRect">
            <a:avLst>
              <a:gd name="adj" fmla="val 10345"/>
            </a:avLst>
          </a:prstGeom>
          <a:solidFill>
            <a:srgbClr val="F7F7FB"/>
          </a:solidFill>
          <a:ln/>
        </p:spPr>
      </p:sp>
      <p:sp>
        <p:nvSpPr>
          <p:cNvPr id="33" name="Shape 26"/>
          <p:cNvSpPr/>
          <p:nvPr/>
        </p:nvSpPr>
        <p:spPr>
          <a:xfrm>
            <a:off x="7086600" y="340156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Shape 27"/>
          <p:cNvSpPr/>
          <p:nvPr/>
        </p:nvSpPr>
        <p:spPr>
          <a:xfrm>
            <a:off x="7068312" y="3392424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3351" y="3477463"/>
            <a:ext cx="104242" cy="10424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470648" y="326440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Haldi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784080" y="326440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₹3,00,000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6922008" y="3922776"/>
            <a:ext cx="4398264" cy="530352"/>
          </a:xfrm>
          <a:prstGeom prst="roundRect">
            <a:avLst>
              <a:gd name="adj" fmla="val 10345"/>
            </a:avLst>
          </a:prstGeom>
          <a:solidFill>
            <a:srgbClr val="F7F7FB"/>
          </a:solidFill>
          <a:ln/>
        </p:spPr>
      </p:sp>
      <p:sp>
        <p:nvSpPr>
          <p:cNvPr id="39" name="Shape 31"/>
          <p:cNvSpPr/>
          <p:nvPr/>
        </p:nvSpPr>
        <p:spPr>
          <a:xfrm>
            <a:off x="7086600" y="4059936"/>
            <a:ext cx="256032" cy="256032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0" name="Shape 32"/>
          <p:cNvSpPr/>
          <p:nvPr/>
        </p:nvSpPr>
        <p:spPr>
          <a:xfrm>
            <a:off x="7068312" y="4050792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3351" y="4135831"/>
            <a:ext cx="104242" cy="10424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470648" y="392277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Sangeet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9784080" y="392277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₹12,00,000</a:t>
            </a:r>
            <a:endParaRPr lang="en-US" sz="1250" dirty="0"/>
          </a:p>
        </p:txBody>
      </p:sp>
      <p:sp>
        <p:nvSpPr>
          <p:cNvPr id="44" name="Shape 35"/>
          <p:cNvSpPr/>
          <p:nvPr/>
        </p:nvSpPr>
        <p:spPr>
          <a:xfrm>
            <a:off x="6922008" y="4581144"/>
            <a:ext cx="4398264" cy="530352"/>
          </a:xfrm>
          <a:prstGeom prst="roundRect">
            <a:avLst>
              <a:gd name="adj" fmla="val 10345"/>
            </a:avLst>
          </a:prstGeom>
          <a:solidFill>
            <a:srgbClr val="F7F7FB"/>
          </a:solidFill>
          <a:ln/>
        </p:spPr>
      </p:sp>
      <p:sp>
        <p:nvSpPr>
          <p:cNvPr id="45" name="Shape 36"/>
          <p:cNvSpPr/>
          <p:nvPr/>
        </p:nvSpPr>
        <p:spPr>
          <a:xfrm>
            <a:off x="7086600" y="4718304"/>
            <a:ext cx="256032" cy="25603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6" name="Shape 37"/>
          <p:cNvSpPr/>
          <p:nvPr/>
        </p:nvSpPr>
        <p:spPr>
          <a:xfrm>
            <a:off x="7068312" y="4709160"/>
            <a:ext cx="274320" cy="2743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3351" y="4794199"/>
            <a:ext cx="104242" cy="10424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470648" y="458114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Baraat &amp; Wedding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9784080" y="458114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₹18,00,000</a:t>
            </a:r>
            <a:endParaRPr lang="en-US" sz="1250" dirty="0"/>
          </a:p>
        </p:txBody>
      </p:sp>
      <p:sp>
        <p:nvSpPr>
          <p:cNvPr id="50" name="Shape 40"/>
          <p:cNvSpPr/>
          <p:nvPr/>
        </p:nvSpPr>
        <p:spPr>
          <a:xfrm>
            <a:off x="6922008" y="5239512"/>
            <a:ext cx="4398264" cy="530352"/>
          </a:xfrm>
          <a:prstGeom prst="roundRect">
            <a:avLst>
              <a:gd name="adj" fmla="val 10345"/>
            </a:avLst>
          </a:prstGeom>
          <a:solidFill>
            <a:srgbClr val="F7F7FB"/>
          </a:solidFill>
          <a:ln/>
        </p:spPr>
      </p:sp>
      <p:sp>
        <p:nvSpPr>
          <p:cNvPr id="51" name="Shape 41"/>
          <p:cNvSpPr/>
          <p:nvPr/>
        </p:nvSpPr>
        <p:spPr>
          <a:xfrm>
            <a:off x="7086600" y="5376672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2" name="Shape 42"/>
          <p:cNvSpPr/>
          <p:nvPr/>
        </p:nvSpPr>
        <p:spPr>
          <a:xfrm>
            <a:off x="7068312" y="5367528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3351" y="5452567"/>
            <a:ext cx="104242" cy="10424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470648" y="523951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</a:t>
            </a:r>
            <a:endParaRPr lang="en-US" sz="1250" dirty="0"/>
          </a:p>
        </p:txBody>
      </p:sp>
      <p:sp>
        <p:nvSpPr>
          <p:cNvPr id="55" name="Text 44"/>
          <p:cNvSpPr/>
          <p:nvPr/>
        </p:nvSpPr>
        <p:spPr>
          <a:xfrm>
            <a:off x="9784080" y="523951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₹9,00,000</a:t>
            </a:r>
            <a:endParaRPr lang="en-US" sz="1250" dirty="0"/>
          </a:p>
        </p:txBody>
      </p:sp>
      <p:pic>
        <p:nvPicPr>
          <p:cNvPr id="56" name="Image 9" descr="assets/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58" name="Text 46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FEATURE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intelligence, not just tracking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40080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77800" dist="635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00200"/>
            <a:ext cx="6400800" cy="274320"/>
          </a:xfrm>
          <a:prstGeom prst="rect">
            <a:avLst/>
          </a:prstGeom>
          <a:solidFill>
            <a:srgbClr val="20202C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9" name="Image 0" descr="assets/mock_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929384"/>
            <a:ext cx="6291072" cy="39843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223760" y="1691640"/>
            <a:ext cx="512064" cy="512064"/>
          </a:xfrm>
          <a:prstGeom prst="ellipse">
            <a:avLst/>
          </a:prstGeom>
          <a:solidFill>
            <a:srgbClr val="E7F8F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2500" y="1850380"/>
            <a:ext cx="194584" cy="1945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82128" y="165506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by category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882128" y="1984248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exactly where money goes — catering, decor, venue — as a live breakdown.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223760" y="2752344"/>
            <a:ext cx="512064" cy="512064"/>
          </a:xfrm>
          <a:prstGeom prst="ellipse">
            <a:avLst/>
          </a:prstGeom>
          <a:solidFill>
            <a:srgbClr val="E7F8F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2500" y="2911084"/>
            <a:ext cx="194584" cy="1945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82128" y="27157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burn over time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882128" y="304495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vs actual spend across the event timeline, so drift is visible early.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223760" y="3813048"/>
            <a:ext cx="512064" cy="512064"/>
          </a:xfrm>
          <a:prstGeom prst="ellipse">
            <a:avLst/>
          </a:prstGeom>
          <a:solidFill>
            <a:srgbClr val="E7F8F0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2500" y="3971788"/>
            <a:ext cx="194584" cy="1945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82128" y="377647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payments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882128" y="4105656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 vs paid vs balance — ₹28.5L quoted, ₹9.8L paid, ₹18.7L outstanding.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223760" y="4873752"/>
            <a:ext cx="512064" cy="512064"/>
          </a:xfrm>
          <a:prstGeom prst="ellipse">
            <a:avLst/>
          </a:prstGeom>
          <a:solidFill>
            <a:srgbClr val="E7F8F0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2500" y="5032492"/>
            <a:ext cx="194584" cy="1945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882128" y="483717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health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882128" y="51663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progress and approval status alongside the financials.</a:t>
            </a:r>
            <a:endParaRPr lang="en-US" sz="1100" dirty="0"/>
          </a:p>
        </p:txBody>
      </p:sp>
      <p:pic>
        <p:nvPicPr>
          <p:cNvPr id="26" name="Image 5" descr="assets/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FEATURE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logged, approved and traceable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12064" cy="512064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68" y="1758940"/>
            <a:ext cx="194584" cy="194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25296" y="156362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 on every expense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25296" y="189280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a receipt to any expense; filter instantly for anything missing one.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2624328"/>
            <a:ext cx="512064" cy="512064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68" y="2783068"/>
            <a:ext cx="194584" cy="1945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5296" y="258775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approvals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25296" y="291693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→ Approved → Rejected — a real workflow, not a chat message.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6928" y="3648456"/>
            <a:ext cx="512064" cy="512064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668" y="3807196"/>
            <a:ext cx="194584" cy="1945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296" y="36118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directory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25296" y="39410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vendor, service, contact and payment status in one place.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" y="4672584"/>
            <a:ext cx="512064" cy="512064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668" y="4831324"/>
            <a:ext cx="194584" cy="1945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25296" y="46360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Quote-to-settlement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225296" y="496519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quoted, paid and outstanding balances per vendor automatically.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355080" y="1600200"/>
            <a:ext cx="525780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77800" dist="635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355080" y="1600200"/>
            <a:ext cx="5257800" cy="274320"/>
          </a:xfrm>
          <a:prstGeom prst="rect">
            <a:avLst/>
          </a:prstGeom>
          <a:solidFill>
            <a:srgbClr val="20202C"/>
          </a:solidFill>
          <a:ln/>
        </p:spPr>
      </p:sp>
      <p:sp>
        <p:nvSpPr>
          <p:cNvPr id="22" name="Shape 16"/>
          <p:cNvSpPr/>
          <p:nvPr/>
        </p:nvSpPr>
        <p:spPr>
          <a:xfrm>
            <a:off x="6483096" y="169164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17"/>
          <p:cNvSpPr/>
          <p:nvPr/>
        </p:nvSpPr>
        <p:spPr>
          <a:xfrm>
            <a:off x="6665976" y="169164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18"/>
          <p:cNvSpPr/>
          <p:nvPr/>
        </p:nvSpPr>
        <p:spPr>
          <a:xfrm>
            <a:off x="6848856" y="169164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5" name="Image 4" descr="assets/mock_expens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1929384"/>
            <a:ext cx="5148072" cy="3260446"/>
          </a:xfrm>
          <a:prstGeom prst="rect">
            <a:avLst/>
          </a:prstGeom>
        </p:spPr>
      </p:pic>
      <p:pic>
        <p:nvPicPr>
          <p:cNvPr id="26" name="Image 5" descr="assets/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FEATURE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that replaces the group chat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56816"/>
            <a:ext cx="548640" cy="548640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2126894"/>
            <a:ext cx="208483" cy="2084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86537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81328" y="22128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Assign, prioritise and track — 13 tasks, 7 active, delays surfaced automatically.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64592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56816"/>
            <a:ext cx="548640" cy="548640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878" y="2126894"/>
            <a:ext cx="208483" cy="2084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6537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calendar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2128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Events, functions, payments and tasks — colour-coded on one timeline.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" y="301752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3328416"/>
            <a:ext cx="548640" cy="548640"/>
          </a:xfrm>
          <a:prstGeom prst="ellipse">
            <a:avLst/>
          </a:prstGeom>
          <a:solidFill>
            <a:srgbClr val="E7F8F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" y="3498494"/>
            <a:ext cx="208483" cy="2084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323697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roles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81328" y="35844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members by email; role-based access to only their events.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301752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328416"/>
            <a:ext cx="548640" cy="548640"/>
          </a:xfrm>
          <a:prstGeom prst="ellipse">
            <a:avLst/>
          </a:prstGeom>
          <a:solidFill>
            <a:srgbClr val="FEF3E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0878" y="3498494"/>
            <a:ext cx="208483" cy="2084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23697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activity feed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35844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assignment and completion logged for full accountability.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6928" y="452628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14141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66928" y="452628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14141F"/>
          </a:solidFill>
          <a:ln/>
        </p:spPr>
      </p:sp>
      <p:sp>
        <p:nvSpPr>
          <p:cNvPr id="26" name="Text 20"/>
          <p:cNvSpPr/>
          <p:nvPr/>
        </p:nvSpPr>
        <p:spPr>
          <a:xfrm>
            <a:off x="886968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7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CALENDAR, EVERY MOVING PART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86968" y="51389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6C5CE7"/>
          </a:solidFill>
          <a:ln/>
        </p:spPr>
      </p:sp>
      <p:sp>
        <p:nvSpPr>
          <p:cNvPr id="28" name="Text 22"/>
          <p:cNvSpPr/>
          <p:nvPr/>
        </p:nvSpPr>
        <p:spPr>
          <a:xfrm>
            <a:off x="1252728" y="51206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2715768" y="51389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</p:sp>
      <p:sp>
        <p:nvSpPr>
          <p:cNvPr id="30" name="Text 24"/>
          <p:cNvSpPr/>
          <p:nvPr/>
        </p:nvSpPr>
        <p:spPr>
          <a:xfrm>
            <a:off x="3081528" y="51206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4544568" y="51389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/>
        </p:spPr>
      </p:sp>
      <p:sp>
        <p:nvSpPr>
          <p:cNvPr id="32" name="Text 26"/>
          <p:cNvSpPr/>
          <p:nvPr/>
        </p:nvSpPr>
        <p:spPr>
          <a:xfrm>
            <a:off x="4910328" y="51206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6373368" y="513892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34" name="Text 28"/>
          <p:cNvSpPr/>
          <p:nvPr/>
        </p:nvSpPr>
        <p:spPr>
          <a:xfrm>
            <a:off x="6739128" y="51206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886968" y="55046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— from vendor payment reminders to the Baraat, every date planners actually track lives on a single view.</a:t>
            </a:r>
            <a:endParaRPr lang="en-US" sz="1100" dirty="0"/>
          </a:p>
        </p:txBody>
      </p:sp>
      <p:pic>
        <p:nvPicPr>
          <p:cNvPr id="36" name="Image 4" descr="assets/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WHAT SETS IT APART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experience — Eventra's edge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shipped features that generic tools simply don't have — and that turn a planner's back-office into a client-winning asset.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548640" cy="548640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" y="2547518"/>
            <a:ext cx="208483" cy="2084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35915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portfolio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80160" y="268833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completed events into a beautiful, public portfolio of your work.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6928" y="3401568"/>
            <a:ext cx="548640" cy="548640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" y="3571646"/>
            <a:ext cx="208483" cy="2084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3832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shareable link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80160" y="37124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prospective clients a single link — no deck, no PDF attachment.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66928" y="4425696"/>
            <a:ext cx="548640" cy="548640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" y="4595774"/>
            <a:ext cx="208483" cy="2084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40740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PDF export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80160" y="473659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polished event or financial report instantly, ready to send.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37960" y="1554480"/>
            <a:ext cx="507492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77800" dist="635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37960" y="1554480"/>
            <a:ext cx="5074920" cy="274320"/>
          </a:xfrm>
          <a:prstGeom prst="rect">
            <a:avLst/>
          </a:prstGeom>
          <a:solidFill>
            <a:srgbClr val="20202C"/>
          </a:solidFill>
          <a:ln/>
        </p:spPr>
      </p:sp>
      <p:sp>
        <p:nvSpPr>
          <p:cNvPr id="19" name="Shape 14"/>
          <p:cNvSpPr/>
          <p:nvPr/>
        </p:nvSpPr>
        <p:spPr>
          <a:xfrm>
            <a:off x="6665976" y="164592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5"/>
          <p:cNvSpPr/>
          <p:nvPr/>
        </p:nvSpPr>
        <p:spPr>
          <a:xfrm>
            <a:off x="6848856" y="164592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6"/>
          <p:cNvSpPr/>
          <p:nvPr/>
        </p:nvSpPr>
        <p:spPr>
          <a:xfrm>
            <a:off x="7031736" y="164592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2" name="Image 3" descr="assets/mock_showc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1883664"/>
            <a:ext cx="4965192" cy="31446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37960" y="57150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Showcase — a public, shareable portfolio that sells the next booking.</a:t>
            </a:r>
            <a:endParaRPr lang="en-US" sz="1000" dirty="0"/>
          </a:p>
        </p:txBody>
      </p:sp>
      <p:pic>
        <p:nvPicPr>
          <p:cNvPr id="24" name="Image 4" descr="assets/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COMPETITIVE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tools fall short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10128" y="1737360"/>
            <a:ext cx="1386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Multi-function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96968" y="1737360"/>
            <a:ext cx="1386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83808" y="1737360"/>
            <a:ext cx="1386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70648" y="1737360"/>
            <a:ext cx="1386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 +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857488" y="1737360"/>
            <a:ext cx="1386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showcase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share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244328" y="1737360"/>
            <a:ext cx="1386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560320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60320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Spreadsheets (Excel)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57244" y="27523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952" y="2843052"/>
            <a:ext cx="111191" cy="111191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244084" y="27523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792" y="2843052"/>
            <a:ext cx="111191" cy="111191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630924" y="27523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632" y="2843052"/>
            <a:ext cx="111191" cy="11119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017764" y="27523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472" y="2843052"/>
            <a:ext cx="111191" cy="11119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404604" y="27523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312" y="2843052"/>
            <a:ext cx="111191" cy="111191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0791444" y="275234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152" y="2843052"/>
            <a:ext cx="111191" cy="111191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66928" y="3346704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22960" y="3346704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PM (Trello/Asana)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3857244" y="35387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952" y="3629436"/>
            <a:ext cx="111191" cy="111191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5244084" y="35387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792" y="3629436"/>
            <a:ext cx="111191" cy="111191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630924" y="35387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632" y="3629436"/>
            <a:ext cx="111191" cy="111191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8017764" y="35387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472" y="3629436"/>
            <a:ext cx="111191" cy="111191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404604" y="35387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312" y="3629436"/>
            <a:ext cx="111191" cy="111191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10791444" y="35387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152" y="3629436"/>
            <a:ext cx="111191" cy="111191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566928" y="4133088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</p:spPr>
      </p:sp>
      <p:sp>
        <p:nvSpPr>
          <p:cNvPr id="40" name="Text 26"/>
          <p:cNvSpPr/>
          <p:nvPr/>
        </p:nvSpPr>
        <p:spPr>
          <a:xfrm>
            <a:off x="822960" y="4133088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 checklist apps</a:t>
            </a:r>
            <a:endParaRPr lang="en-US" sz="1250" dirty="0"/>
          </a:p>
        </p:txBody>
      </p:sp>
      <p:sp>
        <p:nvSpPr>
          <p:cNvPr id="41" name="Shape 27"/>
          <p:cNvSpPr/>
          <p:nvPr/>
        </p:nvSpPr>
        <p:spPr>
          <a:xfrm>
            <a:off x="3857244" y="432511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952" y="4415820"/>
            <a:ext cx="111191" cy="111191"/>
          </a:xfrm>
          <a:prstGeom prst="rect">
            <a:avLst/>
          </a:prstGeom>
        </p:spPr>
      </p:pic>
      <p:sp>
        <p:nvSpPr>
          <p:cNvPr id="43" name="Shape 28"/>
          <p:cNvSpPr/>
          <p:nvPr/>
        </p:nvSpPr>
        <p:spPr>
          <a:xfrm>
            <a:off x="5244084" y="432511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792" y="4415820"/>
            <a:ext cx="111191" cy="111191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6630924" y="432511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632" y="4415820"/>
            <a:ext cx="111191" cy="111191"/>
          </a:xfrm>
          <a:prstGeom prst="rect">
            <a:avLst/>
          </a:prstGeom>
        </p:spPr>
      </p:pic>
      <p:sp>
        <p:nvSpPr>
          <p:cNvPr id="47" name="Shape 30"/>
          <p:cNvSpPr/>
          <p:nvPr/>
        </p:nvSpPr>
        <p:spPr>
          <a:xfrm>
            <a:off x="8017764" y="432511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472" y="4415820"/>
            <a:ext cx="111191" cy="111191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9404604" y="432511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5312" y="4415820"/>
            <a:ext cx="111191" cy="111191"/>
          </a:xfrm>
          <a:prstGeom prst="rect">
            <a:avLst/>
          </a:prstGeom>
        </p:spPr>
      </p:pic>
      <p:sp>
        <p:nvSpPr>
          <p:cNvPr id="51" name="Shape 32"/>
          <p:cNvSpPr/>
          <p:nvPr/>
        </p:nvSpPr>
        <p:spPr>
          <a:xfrm>
            <a:off x="10791444" y="432511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2152" y="4415820"/>
            <a:ext cx="111191" cy="111191"/>
          </a:xfrm>
          <a:prstGeom prst="rect">
            <a:avLst/>
          </a:prstGeom>
        </p:spPr>
      </p:pic>
      <p:sp>
        <p:nvSpPr>
          <p:cNvPr id="53" name="Shape 33"/>
          <p:cNvSpPr/>
          <p:nvPr/>
        </p:nvSpPr>
        <p:spPr>
          <a:xfrm>
            <a:off x="566928" y="4919472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14141F"/>
          </a:solidFill>
          <a:ln w="12700">
            <a:solidFill>
              <a:srgbClr val="14141F"/>
            </a:solidFill>
            <a:prstDash val="solid"/>
          </a:ln>
          <a:effectLst>
            <a:outerShdw blurRad="127000" dist="38100" dir="5400000" algn="bl" rotWithShape="0">
              <a:srgbClr val="1A1A2E">
                <a:alpha val="20000"/>
              </a:srgbClr>
            </a:outerShdw>
          </a:effectLst>
        </p:spPr>
      </p:sp>
      <p:sp>
        <p:nvSpPr>
          <p:cNvPr id="54" name="Text 34"/>
          <p:cNvSpPr/>
          <p:nvPr/>
        </p:nvSpPr>
        <p:spPr>
          <a:xfrm>
            <a:off x="822960" y="4919472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</a:t>
            </a:r>
            <a:endParaRPr lang="en-US" sz="1250" dirty="0"/>
          </a:p>
        </p:txBody>
      </p:sp>
      <p:sp>
        <p:nvSpPr>
          <p:cNvPr id="55" name="Shape 35"/>
          <p:cNvSpPr/>
          <p:nvPr/>
        </p:nvSpPr>
        <p:spPr>
          <a:xfrm>
            <a:off x="3857244" y="5111496"/>
            <a:ext cx="292608" cy="292608"/>
          </a:xfrm>
          <a:prstGeom prst="ellipse">
            <a:avLst/>
          </a:prstGeom>
          <a:solidFill>
            <a:srgbClr val="1F1F2E"/>
          </a:solidFill>
          <a:ln/>
        </p:spPr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7952" y="5202204"/>
            <a:ext cx="111191" cy="111191"/>
          </a:xfrm>
          <a:prstGeom prst="rect">
            <a:avLst/>
          </a:prstGeom>
        </p:spPr>
      </p:pic>
      <p:sp>
        <p:nvSpPr>
          <p:cNvPr id="57" name="Shape 36"/>
          <p:cNvSpPr/>
          <p:nvPr/>
        </p:nvSpPr>
        <p:spPr>
          <a:xfrm>
            <a:off x="5244084" y="5111496"/>
            <a:ext cx="292608" cy="292608"/>
          </a:xfrm>
          <a:prstGeom prst="ellipse">
            <a:avLst/>
          </a:prstGeom>
          <a:solidFill>
            <a:srgbClr val="1F1F2E"/>
          </a:solidFill>
          <a:ln/>
        </p:spPr>
      </p:sp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792" y="5202204"/>
            <a:ext cx="111191" cy="111191"/>
          </a:xfrm>
          <a:prstGeom prst="rect">
            <a:avLst/>
          </a:prstGeom>
        </p:spPr>
      </p:pic>
      <p:sp>
        <p:nvSpPr>
          <p:cNvPr id="59" name="Shape 37"/>
          <p:cNvSpPr/>
          <p:nvPr/>
        </p:nvSpPr>
        <p:spPr>
          <a:xfrm>
            <a:off x="6630924" y="5111496"/>
            <a:ext cx="292608" cy="292608"/>
          </a:xfrm>
          <a:prstGeom prst="ellipse">
            <a:avLst/>
          </a:prstGeom>
          <a:solidFill>
            <a:srgbClr val="1F1F2E"/>
          </a:solidFill>
          <a:ln/>
        </p:spPr>
      </p:sp>
      <p:pic>
        <p:nvPicPr>
          <p:cNvPr id="60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632" y="5202204"/>
            <a:ext cx="111191" cy="111191"/>
          </a:xfrm>
          <a:prstGeom prst="rect">
            <a:avLst/>
          </a:prstGeom>
        </p:spPr>
      </p:pic>
      <p:sp>
        <p:nvSpPr>
          <p:cNvPr id="61" name="Shape 38"/>
          <p:cNvSpPr/>
          <p:nvPr/>
        </p:nvSpPr>
        <p:spPr>
          <a:xfrm>
            <a:off x="8017764" y="5111496"/>
            <a:ext cx="292608" cy="292608"/>
          </a:xfrm>
          <a:prstGeom prst="ellipse">
            <a:avLst/>
          </a:prstGeom>
          <a:solidFill>
            <a:srgbClr val="1F1F2E"/>
          </a:solidFill>
          <a:ln/>
        </p:spPr>
      </p:sp>
      <p:pic>
        <p:nvPicPr>
          <p:cNvPr id="62" name="Image 2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8472" y="5202204"/>
            <a:ext cx="111191" cy="111191"/>
          </a:xfrm>
          <a:prstGeom prst="rect">
            <a:avLst/>
          </a:prstGeom>
        </p:spPr>
      </p:pic>
      <p:sp>
        <p:nvSpPr>
          <p:cNvPr id="63" name="Shape 39"/>
          <p:cNvSpPr/>
          <p:nvPr/>
        </p:nvSpPr>
        <p:spPr>
          <a:xfrm>
            <a:off x="9404604" y="5111496"/>
            <a:ext cx="292608" cy="292608"/>
          </a:xfrm>
          <a:prstGeom prst="ellipse">
            <a:avLst/>
          </a:prstGeom>
          <a:solidFill>
            <a:srgbClr val="1F1F2E"/>
          </a:solidFill>
          <a:ln/>
        </p:spPr>
      </p:sp>
      <p:pic>
        <p:nvPicPr>
          <p:cNvPr id="64" name="Image 2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5312" y="5202204"/>
            <a:ext cx="111191" cy="111191"/>
          </a:xfrm>
          <a:prstGeom prst="rect">
            <a:avLst/>
          </a:prstGeom>
        </p:spPr>
      </p:pic>
      <p:sp>
        <p:nvSpPr>
          <p:cNvPr id="65" name="Shape 40"/>
          <p:cNvSpPr/>
          <p:nvPr/>
        </p:nvSpPr>
        <p:spPr>
          <a:xfrm>
            <a:off x="10791444" y="5111496"/>
            <a:ext cx="292608" cy="292608"/>
          </a:xfrm>
          <a:prstGeom prst="ellipse">
            <a:avLst/>
          </a:prstGeom>
          <a:solidFill>
            <a:srgbClr val="1F1F2E"/>
          </a:solidFill>
          <a:ln/>
        </p:spPr>
      </p:sp>
      <p:pic>
        <p:nvPicPr>
          <p:cNvPr id="66" name="Image 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2152" y="5202204"/>
            <a:ext cx="111191" cy="111191"/>
          </a:xfrm>
          <a:prstGeom prst="rect">
            <a:avLst/>
          </a:prstGeom>
        </p:spPr>
      </p:pic>
      <p:sp>
        <p:nvSpPr>
          <p:cNvPr id="67" name="Text 41"/>
          <p:cNvSpPr/>
          <p:nvPr/>
        </p:nvSpPr>
        <p:spPr>
          <a:xfrm>
            <a:off x="566928" y="575157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Eventra 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event-native budgeting, real-time analytics, vendor payments, structured approvals and a client-facing showcase in one platform.</a:t>
            </a:r>
            <a:endParaRPr lang="en-US" sz="1200" dirty="0"/>
          </a:p>
        </p:txBody>
      </p:sp>
      <p:pic>
        <p:nvPicPr>
          <p:cNvPr id="68" name="Image 24" descr="assets/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69" name="Text 42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70" name="Text 43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compounds over time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9240" cy="2048256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585216" cy="585216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65" y="2165665"/>
            <a:ext cx="222382" cy="2223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0025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Event-native data model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99616" y="2446020"/>
            <a:ext cx="4233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Functions, budgets, vendors and approvals modelled the way events truly work — hard for horizontal tools to retrofit.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12131" y="1691640"/>
            <a:ext cx="5349240" cy="2048256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84248"/>
            <a:ext cx="585216" cy="585216"/>
          </a:xfrm>
          <a:prstGeom prst="ellipse">
            <a:avLst/>
          </a:prstGeom>
          <a:solidFill>
            <a:srgbClr val="E7F8F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217" y="2165665"/>
            <a:ext cx="222382" cy="2223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0025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flywheel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086600" y="2498344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adds financial and operational data that powers benchmarks and future AI prediction.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3904488"/>
            <a:ext cx="5349240" cy="2048256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197096"/>
            <a:ext cx="585216" cy="585216"/>
          </a:xfrm>
          <a:prstGeom prst="ellipse">
            <a:avLst/>
          </a:prstGeom>
          <a:solidFill>
            <a:srgbClr val="FFE9F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65" y="4378513"/>
            <a:ext cx="222382" cy="2223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27048" y="421538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distribution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19367" y="4600895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showcase links put Eventra in front of the planner's next clients — built-in, organic reach.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921313"/>
            <a:ext cx="5349240" cy="2048256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197096"/>
            <a:ext cx="585216" cy="585216"/>
          </a:xfrm>
          <a:prstGeom prst="ellipse">
            <a:avLst/>
          </a:prstGeom>
          <a:solidFill>
            <a:srgbClr val="FEF3E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217" y="4378513"/>
            <a:ext cx="222382" cy="2223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21538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lock-in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114032" y="4600895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budgets, vendors and history live here, Eventra becomes the system of record.</a:t>
            </a:r>
            <a:endParaRPr lang="en-US" sz="1150" dirty="0"/>
          </a:p>
        </p:txBody>
      </p:sp>
      <p:pic>
        <p:nvPicPr>
          <p:cNvPr id="24" name="Image 4" descr="assets/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PRIORITISATION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Ruthless scope control: MoSCoW + RICE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2203704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01368"/>
            <a:ext cx="220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2286000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budget tracker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688336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Multi-function events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309067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 + receipts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3493008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6002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1801368"/>
            <a:ext cx="2203704" cy="310896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1801368"/>
            <a:ext cx="220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57016" y="2286000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57016" y="2688336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payments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57016" y="309067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&amp; tasks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57016" y="3493008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08192" y="16002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801368"/>
            <a:ext cx="2203704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801368"/>
            <a:ext cx="220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7648" y="2286000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showcase + share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2688336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309067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7648" y="3493008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install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78824" y="160020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79992" y="1801368"/>
            <a:ext cx="2203704" cy="3108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9079992" y="1801368"/>
            <a:ext cx="220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 (yet)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98280" y="2286000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iOS/Android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98280" y="2688336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budget prediction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98280" y="3090672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marketplace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98280" y="3493008"/>
            <a:ext cx="2221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SaaS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 — how the top bets ranked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617720"/>
          <a:ext cx="11064240" cy="146304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budget tracker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5C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showcase + share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5C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payment tracking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5C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budget prediction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A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C5C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— SUCCESS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Star, funnel and KPIs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14141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0020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14141F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810512"/>
            <a:ext cx="438912" cy="438912"/>
          </a:xfrm>
          <a:prstGeom prst="ellipse">
            <a:avLst/>
          </a:prstGeom>
          <a:solidFill>
            <a:srgbClr val="3A2F7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99" y="1946575"/>
            <a:ext cx="166787" cy="166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18105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7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" y="22402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events completed within ±5% of planned budget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9536" y="2926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financial discipline — not just visibility. It proves the product changed the outcome.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35040" y="1627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AARRR — the growth funnel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1600200"/>
            <a:ext cx="5532120" cy="347472"/>
          </a:xfrm>
          <a:prstGeom prst="roundRect">
            <a:avLst>
              <a:gd name="adj" fmla="val 13158"/>
            </a:avLst>
          </a:prstGeom>
          <a:solidFill>
            <a:srgbClr val="6C5CE7"/>
          </a:solidFill>
          <a:ln/>
        </p:spPr>
      </p:sp>
      <p:sp>
        <p:nvSpPr>
          <p:cNvPr id="13" name="Text 10"/>
          <p:cNvSpPr/>
          <p:nvPr/>
        </p:nvSpPr>
        <p:spPr>
          <a:xfrm>
            <a:off x="6163056" y="16002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35240" y="16002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Sign-ups via showcase links &amp; referrals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984248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6366F1"/>
          </a:solidFill>
          <a:ln/>
        </p:spPr>
      </p:sp>
      <p:sp>
        <p:nvSpPr>
          <p:cNvPr id="16" name="Text 13"/>
          <p:cNvSpPr/>
          <p:nvPr/>
        </p:nvSpPr>
        <p:spPr>
          <a:xfrm>
            <a:off x="6163056" y="19842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635240" y="1984248"/>
            <a:ext cx="3575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event created + budget set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35040" y="2368296"/>
            <a:ext cx="4910328" cy="347472"/>
          </a:xfrm>
          <a:prstGeom prst="roundRect">
            <a:avLst>
              <a:gd name="adj" fmla="val 13158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6163056" y="23682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635240" y="2368296"/>
            <a:ext cx="3264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returns for their next event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2752344"/>
            <a:ext cx="4599432" cy="347472"/>
          </a:xfrm>
          <a:prstGeom prst="roundRect">
            <a:avLst>
              <a:gd name="adj" fmla="val 13158"/>
            </a:avLst>
          </a:prstGeom>
          <a:solidFill>
            <a:srgbClr val="FF4F8B"/>
          </a:solidFill>
          <a:ln/>
        </p:spPr>
      </p:sp>
      <p:sp>
        <p:nvSpPr>
          <p:cNvPr id="22" name="Text 19"/>
          <p:cNvSpPr/>
          <p:nvPr/>
        </p:nvSpPr>
        <p:spPr>
          <a:xfrm>
            <a:off x="6163056" y="275234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635240" y="2752344"/>
            <a:ext cx="2953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a showcase / invites team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035040" y="3136392"/>
            <a:ext cx="4288536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6163056" y="31363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635240" y="3136392"/>
            <a:ext cx="2642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Upgrades to a paid tier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BY PRODUCT AREA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6928" y="431596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804672" y="449884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04672" y="4882896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accuracy · overrun rate · time-to-report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37560" y="431596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575304" y="449884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575304" y="4882896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events · tasks done · WAU/MAU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08192" y="431596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345936" y="449884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345936" y="4882896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turnaround · receipt capture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878824" y="4315968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9116568" y="449884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9116568" y="4882896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CTR · referral · paid conversion</a:t>
            </a:r>
            <a:endParaRPr lang="en-US" sz="1100" dirty="0"/>
          </a:p>
        </p:txBody>
      </p:sp>
      <p:pic>
        <p:nvPicPr>
          <p:cNvPr id="40" name="Image 1" descr="assets/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— AI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that compounds with every event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collects the exact data that makes AI valuable: real budgets, real vendors, real outcomes. AI ships only once there's enough history to make it trustworthy.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49300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32304"/>
            <a:ext cx="512064" cy="512064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12" y="2591044"/>
            <a:ext cx="194584" cy="1945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4505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prediction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29443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baselines from past events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4672" y="3401568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 </a:t>
            </a: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 fewer overruns on the first pass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51960" y="2194560"/>
            <a:ext cx="349300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9704" y="2432304"/>
            <a:ext cx="512064" cy="512064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444" y="2591044"/>
            <a:ext cx="194584" cy="1945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38344" y="24505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489704" y="29443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duplicate or inflated expense claims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489704" y="3401568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 </a:t>
            </a: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duplicate submissions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936992" y="2194560"/>
            <a:ext cx="349300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74736" y="2432304"/>
            <a:ext cx="512064" cy="512064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3476" y="2591044"/>
            <a:ext cx="194584" cy="1945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23376" y="24505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report summaries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174736" y="29443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post-event write-ups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174736" y="3401568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 </a:t>
            </a: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reporting cut to minutes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66928" y="4069080"/>
            <a:ext cx="349300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04672" y="4306824"/>
            <a:ext cx="512064" cy="512064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412" y="4465564"/>
            <a:ext cx="194584" cy="1945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53312" y="43251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task priority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04672" y="48188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what needs attention now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04672" y="5276088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 </a:t>
            </a: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day-of operational surprises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251960" y="4069080"/>
            <a:ext cx="349300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489704" y="4306824"/>
            <a:ext cx="512064" cy="512064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444" y="4465564"/>
            <a:ext cx="194584" cy="1945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38344" y="43251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489704" y="48188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budget &amp; timeline risk early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489704" y="5276088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 </a:t>
            </a: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intervention, not post-mortems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936992" y="4069080"/>
            <a:ext cx="3493008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174736" y="4306824"/>
            <a:ext cx="512064" cy="512064"/>
          </a:xfrm>
          <a:prstGeom prst="ellipse">
            <a:avLst/>
          </a:prstGeom>
          <a:solidFill>
            <a:srgbClr val="EEEAFE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3476" y="4465564"/>
            <a:ext cx="194584" cy="1945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723376" y="43251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recommendations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174736" y="48188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vendors from institutional history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8174736" y="5276088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 </a:t>
            </a: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cost, faster procurement</a:t>
            </a:r>
            <a:endParaRPr lang="en-US" sz="1000" dirty="0"/>
          </a:p>
        </p:txBody>
      </p:sp>
      <p:pic>
        <p:nvPicPr>
          <p:cNvPr id="41" name="Image 6" descr="assets/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43" name="Text 34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shipped MVP to intelligent platform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47088"/>
            <a:ext cx="2203704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47088"/>
            <a:ext cx="220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86384" y="230428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61518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29718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Multi-function events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33147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budget tracker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" y="36576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 + receipts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6384" y="40005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&amp; payments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43434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46863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calendar &amp; team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" y="50292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+ share link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53721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 · PWA install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64592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38728" y="1847088"/>
            <a:ext cx="2203704" cy="310896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19" name="Text 17"/>
          <p:cNvSpPr/>
          <p:nvPr/>
        </p:nvSpPr>
        <p:spPr>
          <a:xfrm>
            <a:off x="3538728" y="1847088"/>
            <a:ext cx="220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57016" y="230428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57016" y="261518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months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57016" y="29718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57016" y="33147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iOS / Android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57016" y="36576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report summaries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57016" y="40005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client portal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57016" y="43434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reminders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08192" y="164592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1847088"/>
            <a:ext cx="2203704" cy="31089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847088"/>
            <a:ext cx="220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27648" y="230428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27648" y="261518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months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27648" y="29718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budget prediction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27648" y="33147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36576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27648" y="40005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vendor recs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878824" y="1645920"/>
            <a:ext cx="2606040" cy="4160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79992" y="1847088"/>
            <a:ext cx="2203704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9079992" y="1847088"/>
            <a:ext cx="220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098280" y="2304288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098280" y="261518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9–24 months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098280" y="29718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Multi-org SaaS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98280" y="33147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 / API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098280" y="36576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marketplace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098280" y="4000500"/>
            <a:ext cx="2221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14300" indent="-114300">
              <a:buSzPct val="100000"/>
              <a:buChar char="•"/>
            </a:pPr>
            <a:r>
              <a:rPr lang="en-US" sz="100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Cross-event benchmarks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59436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90% — the working product — already exists. What's left is intelligence and scale.</a:t>
            </a:r>
            <a:endParaRPr lang="en-US" sz="1100" dirty="0"/>
          </a:p>
        </p:txBody>
      </p:sp>
      <p:pic>
        <p:nvPicPr>
          <p:cNvPr id="46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— 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underserved, high-value market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400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93392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933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64208" y="18562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₹1,200 Cr</a:t>
            </a:r>
            <a:r>
              <a:rPr lang="en-IN" sz="2800" dirty="0"/>
              <a:t> 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64208" y="2350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wedding &amp; events industry — one of the world's largest, and famously spend-heavy.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6400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3364992"/>
            <a:ext cx="640080" cy="640080"/>
          </a:xfrm>
          <a:prstGeom prst="ellipse">
            <a:avLst/>
          </a:prstGeom>
          <a:solidFill>
            <a:srgbClr val="FF4F8B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3649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64208" y="32278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₹300 Cr</a:t>
            </a:r>
            <a:endParaRPr lang="en-US" sz="2600" b="1" dirty="0"/>
          </a:p>
        </p:txBody>
      </p:sp>
      <p:sp>
        <p:nvSpPr>
          <p:cNvPr id="13" name="Text 11"/>
          <p:cNvSpPr/>
          <p:nvPr/>
        </p:nvSpPr>
        <p:spPr>
          <a:xfrm>
            <a:off x="1664208" y="37216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 &amp; agencies who would pay for software to run events end to end.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434840"/>
            <a:ext cx="6400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736592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736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64208" y="459943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₹15 Cr</a:t>
            </a:r>
            <a:endParaRPr lang="en-US" sz="2600" b="1" dirty="0"/>
          </a:p>
        </p:txBody>
      </p:sp>
      <p:sp>
        <p:nvSpPr>
          <p:cNvPr id="18" name="Text 16"/>
          <p:cNvSpPr/>
          <p:nvPr/>
        </p:nvSpPr>
        <p:spPr>
          <a:xfrm>
            <a:off x="1664208" y="50932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planners reachable via showcase-link virality and referral in 3–5 years.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78040" y="1691640"/>
            <a:ext cx="4434840" cy="4114800"/>
          </a:xfrm>
          <a:prstGeom prst="roundRect">
            <a:avLst>
              <a:gd name="adj" fmla="val 2000"/>
            </a:avLst>
          </a:prstGeom>
          <a:solidFill>
            <a:srgbClr val="14141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78040" y="1691640"/>
            <a:ext cx="4434840" cy="4114800"/>
          </a:xfrm>
          <a:prstGeom prst="roundRect">
            <a:avLst>
              <a:gd name="adj" fmla="val 2000"/>
            </a:avLst>
          </a:prstGeom>
          <a:solidFill>
            <a:srgbClr val="14141F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52360" y="233172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Weddings are back — bigger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26243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Post-pandemic spend per event is rising, not falling.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52360" y="320040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Planners are professionalising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52360" y="34930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agencies, more staff, more need for real tooling.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52360" y="406908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haven't caught up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43616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still runs on Excel and WhatsApp.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52360" y="493776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Mobile-first, cloud-native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52360" y="52303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PWA reaches every planner with zero install friction.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5989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indicative market context, not audited estimates.</a:t>
            </a:r>
            <a:endParaRPr lang="en-US" sz="850" dirty="0"/>
          </a:p>
        </p:txBody>
      </p:sp>
      <p:pic>
        <p:nvPicPr>
          <p:cNvPr id="31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—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Land, expand, monetise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493008" cy="4206240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7048" y="1920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7048" y="22128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for individual planners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288036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free, frictionless sign-up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338328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a beachhead of active planners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38862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feedback loop, weekly iteration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438912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showcase link is a growth 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" y="5166360"/>
            <a:ext cx="3054096" cy="457200"/>
          </a:xfrm>
          <a:prstGeom prst="roundRect">
            <a:avLst>
              <a:gd name="adj" fmla="val 16000"/>
            </a:avLst>
          </a:prstGeom>
          <a:solidFill>
            <a:srgbClr val="EE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51663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First 100 active planners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51960" y="1645920"/>
            <a:ext cx="3493008" cy="4206240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7992" y="1901952"/>
            <a:ext cx="566928" cy="566928"/>
          </a:xfrm>
          <a:prstGeom prst="ellipse">
            <a:avLst/>
          </a:prstGeom>
          <a:solidFill>
            <a:srgbClr val="FF4F8B"/>
          </a:solidFill>
          <a:ln/>
        </p:spPr>
      </p:sp>
      <p:sp>
        <p:nvSpPr>
          <p:cNvPr id="17" name="Text 15"/>
          <p:cNvSpPr/>
          <p:nvPr/>
        </p:nvSpPr>
        <p:spPr>
          <a:xfrm>
            <a:off x="4507992" y="1901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1920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22128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&amp; multi-planner teams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288036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invites drive seat expansion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338328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+ campus/agency ambassadors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6280" y="38862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for common event types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438912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from real weddings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71416" y="5166360"/>
            <a:ext cx="3054096" cy="457200"/>
          </a:xfrm>
          <a:prstGeom prst="roundRect">
            <a:avLst>
              <a:gd name="adj" fmla="val 16000"/>
            </a:avLst>
          </a:prstGeom>
          <a:solidFill>
            <a:srgbClr val="FFE9F1"/>
          </a:solidFill>
          <a:ln/>
        </p:spPr>
      </p:sp>
      <p:sp>
        <p:nvSpPr>
          <p:cNvPr id="25" name="Text 23"/>
          <p:cNvSpPr/>
          <p:nvPr/>
        </p:nvSpPr>
        <p:spPr>
          <a:xfrm>
            <a:off x="4471416" y="51663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Multi-seat agency accounts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36992" y="1645920"/>
            <a:ext cx="3493008" cy="4206240"/>
          </a:xfrm>
          <a:prstGeom prst="roundRect">
            <a:avLst>
              <a:gd name="adj" fmla="val 2356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93024" y="1901952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8193024" y="1901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897112" y="1920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97112" y="22128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tiers + AI upsell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11312" y="288036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/ agency subscription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11312" y="338328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features as premium upsell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11312" y="38862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&amp; payment partnerships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11312" y="438912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ts val="1200"/>
              </a:lnSpc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Community-led PM positioning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56448" y="5166360"/>
            <a:ext cx="3054096" cy="457200"/>
          </a:xfrm>
          <a:prstGeom prst="roundRect">
            <a:avLst>
              <a:gd name="adj" fmla="val 16000"/>
            </a:avLst>
          </a:prstGeom>
          <a:solidFill>
            <a:srgbClr val="E7F8F0"/>
          </a:solidFill>
          <a:ln/>
        </p:spPr>
      </p:sp>
      <p:sp>
        <p:nvSpPr>
          <p:cNvPr id="36" name="Text 34"/>
          <p:cNvSpPr/>
          <p:nvPr/>
        </p:nvSpPr>
        <p:spPr>
          <a:xfrm>
            <a:off x="8156448" y="5166360"/>
            <a:ext cx="3054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Recurring subscription revenue</a:t>
            </a:r>
            <a:endParaRPr lang="en-US" sz="1050" dirty="0"/>
          </a:p>
        </p:txBody>
      </p:sp>
      <p:pic>
        <p:nvPicPr>
          <p:cNvPr id="37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—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to paid, AI as the upsell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02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042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" y="2852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planners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32004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active event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3584448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budget &amp; tasks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3968496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 &amp; expenses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4352544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+ share link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14141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14141F"/>
          </a:solidFill>
          <a:ln/>
        </p:spPr>
      </p:sp>
      <p:sp>
        <p:nvSpPr>
          <p:cNvPr id="14" name="Shape 12"/>
          <p:cNvSpPr/>
          <p:nvPr/>
        </p:nvSpPr>
        <p:spPr>
          <a:xfrm>
            <a:off x="6144768" y="18470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4F8B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184708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19202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23042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E7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₹4,999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26280" y="2852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· most popular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32004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events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6280" y="3584448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analytics &amp; PDF export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3968496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payment tracking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6280" y="4352544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CFC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seats &amp; roles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36992" y="1645920"/>
            <a:ext cx="349300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11312" y="19202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23042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211312" y="2852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&amp; institutions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11312" y="3200400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Professional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11312" y="3584448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prediction &amp; insights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11312" y="3968496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&amp; SLAs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11312" y="4352544"/>
            <a:ext cx="2990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2A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integrations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0749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6F5FB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" y="50749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6F5FB"/>
          </a:solidFill>
          <a:ln w="12700">
            <a:solidFill>
              <a:srgbClr val="E6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LOGIC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9536" y="5532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CAC — </a:t>
            </a: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links &amp; referrals drive organic sign-ups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71416" y="5532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retention — </a:t>
            </a: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&amp; history make Eventra the system of record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83296" y="5532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revenue — </a:t>
            </a: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Seats + AI upsell grow account value over time</a:t>
            </a:r>
            <a:endParaRPr lang="en-US" sz="1050" dirty="0"/>
          </a:p>
        </p:txBody>
      </p:sp>
      <p:pic>
        <p:nvPicPr>
          <p:cNvPr id="37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— TRADEOFFS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chose not to build — and why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965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AF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965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148840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before native app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4144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responsive PWA delivers ~90% of native value with none of the 3–4 month delay. Native comes once web workflows are validated.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81965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AFE"/>
          </a:solidFill>
          <a:ln/>
        </p:spPr>
      </p:sp>
      <p:sp>
        <p:nvSpPr>
          <p:cNvPr id="11" name="Text 9"/>
          <p:cNvSpPr/>
          <p:nvPr/>
        </p:nvSpPr>
        <p:spPr>
          <a:xfrm>
            <a:off x="6364224" y="181965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64224" y="2148840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at launch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64224" y="244144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prediction needs history to be trustworthy. Shipping AI without data creates false confidence — worse than none.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66928" y="306324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28269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8269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" y="3611880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Single-org before SaaS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390448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Multi-tenancy is heavy infrastructure. One deep, real deployment yields better product insight than spreading thin.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126480" y="306324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64224" y="328269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6364224" y="328269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64224" y="3611880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vendor marketplace at MVP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64224" y="390448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Valuable but not mission-critical. Adding it early would fragment focus before the core workflow was solved.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74573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74573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4672" y="5074920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as workflow, not automation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04672" y="5367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humans in the loop on money. Structured sign-off beats brittle auto-approval that erodes trust.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26480" y="452628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6E6EF"/>
            </a:solidFill>
            <a:prstDash val="solid"/>
          </a:ln>
          <a:effectLst>
            <a:outerShdw blurRad="1143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64224" y="474573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6364224" y="474573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64224" y="5074920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Online-first, no offline sync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364224" y="5367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introduces heavy conflict complexity for marginal gain. Simpler architecture means faster iteration.</a:t>
            </a:r>
            <a:endParaRPr lang="en-US" sz="980" dirty="0"/>
          </a:p>
        </p:txBody>
      </p:sp>
      <p:pic>
        <p:nvPicPr>
          <p:cNvPr id="34" name="Image 0" descr="assets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00800"/>
            <a:ext cx="201168" cy="2011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41248" y="638251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Eventra  ·  Product Case Study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1000232" y="63825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0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4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— 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college project — a shipped product strategy.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523744"/>
            <a:ext cx="512064" cy="512064"/>
          </a:xfrm>
          <a:prstGeom prst="ellipse">
            <a:avLst/>
          </a:prstGeom>
          <a:solidFill>
            <a:srgbClr val="3A2F7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12" y="2682484"/>
            <a:ext cx="194584" cy="1945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108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problem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456432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C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research with real planners — budget control was the unanimous #1 pain.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28416" y="228600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2523744"/>
            <a:ext cx="512064" cy="512064"/>
          </a:xfrm>
          <a:prstGeom prst="ellipse">
            <a:avLst/>
          </a:prstGeom>
          <a:solidFill>
            <a:srgbClr val="3A2F7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4900" y="2682484"/>
            <a:ext cx="194584" cy="1945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108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solution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3456432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C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Budgets, vendors, tasks and client showcase unified where generic tools fail.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89904" y="228600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327648" y="2523744"/>
            <a:ext cx="512064" cy="512064"/>
          </a:xfrm>
          <a:prstGeom prst="ellipse">
            <a:avLst/>
          </a:prstGeom>
          <a:solidFill>
            <a:srgbClr val="3A2F7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388" y="2682484"/>
            <a:ext cx="194584" cy="1945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3108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depth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27648" y="3456432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C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JTBD, MoSCoW + RICE, KPIs, North Star, honest tradeoffs — end to end.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51392" y="2286000"/>
            <a:ext cx="2578608" cy="2194560"/>
          </a:xfrm>
          <a:prstGeom prst="roundRect">
            <a:avLst>
              <a:gd name="adj" fmla="val 375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089136" y="2523744"/>
            <a:ext cx="512064" cy="512064"/>
          </a:xfrm>
          <a:prstGeom prst="ellipse">
            <a:avLst/>
          </a:prstGeom>
          <a:solidFill>
            <a:srgbClr val="3A2F7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7876" y="2682484"/>
            <a:ext cx="194584" cy="1945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89136" y="310896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path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89136" y="3456432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7C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underserved market with a clear GTM, pricing and AI expansion path.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66928" y="4892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7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building Eventra taught me:  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66928" y="51389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D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90%, let real data earn the AI, and treat scope you cut as a decision — not a limitation.</a:t>
            </a:r>
            <a:endParaRPr lang="en-US" sz="1300" dirty="0"/>
          </a:p>
        </p:txBody>
      </p:sp>
      <p:pic>
        <p:nvPicPr>
          <p:cNvPr id="26" name="Image 4" descr="assets/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59893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69848" y="5989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Arpita Gupta</a:t>
            </a:r>
            <a:r>
              <a:rPr lang="en-US" sz="1200" dirty="0">
                <a:solidFill>
                  <a:srgbClr val="9F98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Founder &amp; Product Manager   ·   arpitagupta8806@gmail.com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942832" y="6035040"/>
            <a:ext cx="2697480" cy="310896"/>
          </a:xfrm>
          <a:prstGeom prst="roundRect">
            <a:avLst>
              <a:gd name="adj" fmla="val 50000"/>
            </a:avLst>
          </a:prstGeom>
          <a:solidFill>
            <a:srgbClr val="12351F"/>
          </a:solidFill>
          <a:ln/>
        </p:spPr>
      </p:sp>
      <p:sp>
        <p:nvSpPr>
          <p:cNvPr id="29" name="Text 22"/>
          <p:cNvSpPr/>
          <p:nvPr/>
        </p:nvSpPr>
        <p:spPr>
          <a:xfrm>
            <a:off x="8942832" y="603504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 ·  eventra-app-pied.vercel.app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3151</Words>
  <Application>Microsoft Office PowerPoint</Application>
  <PresentationFormat>Custom</PresentationFormat>
  <Paragraphs>589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Eventra — Product Case Study</dc:title>
  <dc:subject>PptxGenJS Presentation</dc:subject>
  <dc:creator>Arpita Gupta</dc:creator>
  <cp:lastModifiedBy>arpita gupta</cp:lastModifiedBy>
  <cp:revision>1</cp:revision>
  <dcterms:created xsi:type="dcterms:W3CDTF">2026-07-08T14:16:02Z</dcterms:created>
  <dcterms:modified xsi:type="dcterms:W3CDTF">2026-07-08T14:48:07Z</dcterms:modified>
</cp:coreProperties>
</file>